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Discovering Negative Knowledge in Scientific Literature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An AI-Driven Approach to Research Gap Discovery</a:t>
            </a:r>
          </a:p>
          <a:p>
            <a:r>
              <a:t>Using Graph Neural Networks</a:t>
            </a:r>
          </a:p>
          <a:p/>
          <a:p>
            <a:r>
              <a:t>Project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500"/>
            </a:pPr>
            <a:r>
              <a:t>Scientific publications grow exponentially (3M+ papers/year), creating an information paradox: identifying what we DON'T know becomes harder.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This project proposes an AI system to discover under-researched connections in mental health literature using Graph Neural Networks and knowledge graphs.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Approach: Collect 500+ papers from multiple databases → Extract entities via NLP → Build knowledge graph → Train GNN → Predict missing connections with &gt;95% accuracy.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Impact: Transform manual, serendipitous discovery into systematic, AI-guided research gap identification.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Deliverables: Functional AI system, 20-50 high-confidence research gaps, interactive 3D visualization, complete documentation.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Introduction: The Research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500"/>
            </a:pPr>
            <a:r>
              <a:t>Modern Scientific Landscape:</a:t>
            </a:r>
          </a:p>
          <a:p>
            <a:pPr>
              <a:spcAft>
                <a:spcPts val="800"/>
              </a:spcAft>
              <a:defRPr sz="1500"/>
            </a:pPr>
            <a:r>
              <a:t>  • 50,000+ mental health papers published annually</a:t>
            </a:r>
          </a:p>
          <a:p>
            <a:pPr>
              <a:spcAft>
                <a:spcPts val="800"/>
              </a:spcAft>
              <a:defRPr sz="1500"/>
            </a:pPr>
            <a:r>
              <a:t>  • Researchers can read ~300 papers/year maximum</a:t>
            </a:r>
          </a:p>
          <a:p>
            <a:pPr>
              <a:spcAft>
                <a:spcPts val="800"/>
              </a:spcAft>
              <a:defRPr sz="1500"/>
            </a:pPr>
            <a:r>
              <a:t>  • 99.4% of literature remains unread by any individual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The Problem:</a:t>
            </a:r>
          </a:p>
          <a:p>
            <a:pPr>
              <a:spcAft>
                <a:spcPts val="800"/>
              </a:spcAft>
              <a:defRPr sz="1500"/>
            </a:pPr>
            <a:r>
              <a:t>  • Valuable interdisciplinary connections go undiscovered</a:t>
            </a:r>
          </a:p>
          <a:p>
            <a:pPr>
              <a:spcAft>
                <a:spcPts val="800"/>
              </a:spcAft>
              <a:defRPr sz="1500"/>
            </a:pPr>
            <a:r>
              <a:t>  • Duplicate research wastes time and resources</a:t>
            </a:r>
          </a:p>
          <a:p>
            <a:pPr>
              <a:spcAft>
                <a:spcPts val="800"/>
              </a:spcAft>
              <a:defRPr sz="1500"/>
            </a:pPr>
            <a:r>
              <a:t>  • Novel research directions remain hidden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Current State:</a:t>
            </a:r>
          </a:p>
          <a:p>
            <a:pPr>
              <a:spcAft>
                <a:spcPts val="800"/>
              </a:spcAft>
              <a:defRPr sz="1500"/>
            </a:pPr>
            <a:r>
              <a:t>  • Tools help find what IS known</a:t>
            </a:r>
          </a:p>
          <a:p>
            <a:pPr>
              <a:spcAft>
                <a:spcPts val="800"/>
              </a:spcAft>
              <a:defRPr sz="1500"/>
            </a:pPr>
            <a:r>
              <a:t>  • NO systematic approach to discover what SHOULD BE researched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Introduction: What is 'Negative Knowledge'?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Definition:</a:t>
            </a:r>
          </a:p>
          <a:p>
            <a:pPr>
              <a:spcAft>
                <a:spcPts val="800"/>
              </a:spcAft>
              <a:defRPr sz="1600"/>
            </a:pPr>
            <a:r>
              <a:t>Negative Knowledge = What we don't know that we don't know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Examples in Mental Health:</a:t>
            </a:r>
          </a:p>
          <a:p>
            <a:pPr>
              <a:spcAft>
                <a:spcPts val="800"/>
              </a:spcAft>
              <a:defRPr sz="1600"/>
            </a:pPr>
            <a:r>
              <a:t>  • Therapy A works for Condition X</a:t>
            </a:r>
          </a:p>
          <a:p>
            <a:pPr>
              <a:spcAft>
                <a:spcPts val="800"/>
              </a:spcAft>
              <a:defRPr sz="1600"/>
            </a:pPr>
            <a:r>
              <a:t>  • Therapy A works for Condition Y</a:t>
            </a:r>
          </a:p>
          <a:p>
            <a:pPr>
              <a:spcAft>
                <a:spcPts val="800"/>
              </a:spcAft>
              <a:defRPr sz="1600"/>
            </a:pPr>
            <a:r>
              <a:t>  • But has anyone studied Therapy A for Condition Z?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Research Gap = Missing connection between established concepts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Challenge: How to systematically identify these gaps?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Our Solution: Use AI to predict which connections are missing but plausible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Core Research Question:</a:t>
            </a:r>
          </a:p>
          <a:p>
            <a:pPr>
              <a:spcAft>
                <a:spcPts val="800"/>
              </a:spcAft>
              <a:defRPr sz="1600"/>
            </a:pPr>
            <a:r>
              <a:t>How can we systematically discover under-researched connections in scientific literature using AI?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Specific Challenges:</a:t>
            </a:r>
          </a:p>
          <a:p>
            <a:pPr>
              <a:spcAft>
                <a:spcPts val="800"/>
              </a:spcAft>
              <a:defRPr sz="1600"/>
            </a:pPr>
            <a:r>
              <a:t>1. Information Overload: Cannot manually review all relevant papers</a:t>
            </a:r>
          </a:p>
          <a:p>
            <a:pPr>
              <a:spcAft>
                <a:spcPts val="800"/>
              </a:spcAft>
              <a:defRPr sz="1600"/>
            </a:pPr>
            <a:r>
              <a:t>2. Hidden Patterns: Connections span multiple sub-disciplines</a:t>
            </a:r>
          </a:p>
          <a:p>
            <a:pPr>
              <a:spcAft>
                <a:spcPts val="800"/>
              </a:spcAft>
              <a:defRPr sz="1600"/>
            </a:pPr>
            <a:r>
              <a:t>3. Lack of Tools: No existing system for gap discovery</a:t>
            </a:r>
          </a:p>
          <a:p>
            <a:pPr>
              <a:spcAft>
                <a:spcPts val="800"/>
              </a:spcAft>
              <a:defRPr sz="1600"/>
            </a:pPr>
            <a:r>
              <a:t>4. Confidence Quantification: Need probability scores for predictions</a:t>
            </a:r>
          </a:p>
          <a:p>
            <a:pPr>
              <a:spcAft>
                <a:spcPts val="800"/>
              </a:spcAft>
              <a:defRPr sz="1600"/>
            </a:pPr>
            <a:r>
              <a:t>5. Scalability: Must work across multiple medical domains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Required: Automated, accurate, transparent, and actionable 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Literature Survey: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Comprehensive review of 15+ research papers across 4 domains: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1. Knowledge Graph Construction (3 papers)</a:t>
            </a:r>
          </a:p>
          <a:p>
            <a:pPr>
              <a:spcAft>
                <a:spcPts val="800"/>
              </a:spcAft>
              <a:defRPr sz="1600"/>
            </a:pPr>
            <a:r>
              <a:t>   → Foundation for representing scientific knowledge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2. Biomedical NLP (3 papers)</a:t>
            </a:r>
          </a:p>
          <a:p>
            <a:pPr>
              <a:spcAft>
                <a:spcPts val="800"/>
              </a:spcAft>
              <a:defRPr sz="1600"/>
            </a:pPr>
            <a:r>
              <a:t>   → Extracting entities from scientific text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3. Graph Neural Networks (4 papers)</a:t>
            </a:r>
          </a:p>
          <a:p>
            <a:pPr>
              <a:spcAft>
                <a:spcPts val="800"/>
              </a:spcAft>
              <a:defRPr sz="1600"/>
            </a:pPr>
            <a:r>
              <a:t>   → Predicting missing connections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4. Research Gap Identification (5 papers)</a:t>
            </a:r>
          </a:p>
          <a:p>
            <a:pPr>
              <a:spcAft>
                <a:spcPts val="800"/>
              </a:spcAft>
              <a:defRPr sz="1600"/>
            </a:pPr>
            <a:r>
              <a:t>   → Current methodologies and limitations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Goal: Identify gaps our project will address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Literature Survey: Knowledge Graph Systems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743200"/>
                <a:gridCol w="2743200"/>
              </a:tblGrid>
              <a:tr h="12573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DBpedia</a:t>
                      </a:r>
                    </a:p>
                    <a:p>
                      <a:r>
                        <a:t>(Auer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Automated extraction from Wikipedia</a:t>
                      </a:r>
                    </a:p>
                    <a:p>
                      <a:r>
                        <a:t>Structured knowledge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General knowledge</a:t>
                      </a:r>
                    </a:p>
                    <a:p>
                      <a:r>
                        <a:t>Not domain-specific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YAGO</a:t>
                      </a:r>
                    </a:p>
                    <a:p>
                      <a:r>
                        <a:t>(Rebele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High-quality temporal KB</a:t>
                      </a:r>
                    </a:p>
                    <a:p>
                      <a:r>
                        <a:t>Multilingual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Manual curation</a:t>
                      </a:r>
                    </a:p>
                    <a:p>
                      <a:r>
                        <a:t>No predictions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Freebase</a:t>
                      </a:r>
                    </a:p>
                    <a:p>
                      <a:r>
                        <a:t>(Bollacker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Collaborative graph DB</a:t>
                      </a:r>
                    </a:p>
                    <a:p>
                      <a:r>
                        <a:t>Large-scale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Limited to explicit</a:t>
                      </a:r>
                    </a:p>
                    <a:p>
                      <a:r>
                        <a:t>No link prediction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Literature Survey: Biomedical NLP Models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3200400"/>
                <a:gridCol w="2286000"/>
              </a:tblGrid>
              <a:tr h="12573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Key Achievement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BioBERT</a:t>
                      </a:r>
                    </a:p>
                    <a:p>
                      <a:r>
                        <a:t>(Lee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Pre-trained biomedical BERT</a:t>
                      </a:r>
                    </a:p>
                    <a:p>
                      <a:r>
                        <a:t>88%+ NER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Entity extraction only</a:t>
                      </a:r>
                    </a:p>
                    <a:p>
                      <a:r>
                        <a:t>No relationships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ScispaCy</a:t>
                      </a:r>
                    </a:p>
                    <a:p>
                      <a:r>
                        <a:t>(Neumann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Fast biomedical NLP</a:t>
                      </a:r>
                    </a:p>
                    <a:p>
                      <a:r>
                        <a:t>Multiple specialized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knowledge graph</a:t>
                      </a:r>
                    </a:p>
                    <a:p>
                      <a:r>
                        <a:t>No gap discovery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PubMedBERT</a:t>
                      </a:r>
                    </a:p>
                    <a:p>
                      <a:r>
                        <a:t>(Gu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Domain-specific BERT</a:t>
                      </a:r>
                    </a:p>
                    <a:p>
                      <a:r>
                        <a:t>PubMed/PMC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Lacks prediction</a:t>
                      </a:r>
                    </a:p>
                    <a:p>
                      <a:r>
                        <a:t>No integration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Literature Survey: Graph Neural Networks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743200"/>
                <a:gridCol w="2743200"/>
              </a:tblGrid>
              <a:tr h="10058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Innovation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Application Gap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Node2Vec</a:t>
                      </a:r>
                    </a:p>
                    <a:p>
                      <a:r>
                        <a:t>(Grover &amp; Leskovec)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Scalable embeddings</a:t>
                      </a:r>
                    </a:p>
                    <a:p>
                      <a:r>
                        <a:t>Random walk 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Social networks</a:t>
                      </a:r>
                    </a:p>
                    <a:p>
                      <a:r>
                        <a:t>Not scientific lit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GCN</a:t>
                      </a:r>
                    </a:p>
                    <a:p>
                      <a:r>
                        <a:t>(Kipf &amp; Welling)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Convolutional on graphs</a:t>
                      </a:r>
                    </a:p>
                    <a:p>
                      <a:r>
                        <a:t>Semi-supervised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Citation graphs</a:t>
                      </a:r>
                    </a:p>
                    <a:p>
                      <a:r>
                        <a:t>No medical domain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GAT</a:t>
                      </a:r>
                    </a:p>
                    <a:p>
                      <a:r>
                        <a:t>(Veličković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Attention mechanism</a:t>
                      </a:r>
                    </a:p>
                    <a:p>
                      <a:r>
                        <a:t>Weighted neighbors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General graphs</a:t>
                      </a:r>
                    </a:p>
                    <a:p>
                      <a:r>
                        <a:t>No gap discovery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Link Prediction</a:t>
                      </a:r>
                    </a:p>
                    <a:p>
                      <a:r>
                        <a:t>(Zhang &amp; Chen)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SOTA link prediction</a:t>
                      </a:r>
                    </a:p>
                    <a:p>
                      <a:r>
                        <a:t>95%+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Social networks</a:t>
                      </a:r>
                    </a:p>
                    <a:p>
                      <a:r>
                        <a:t>Not for research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Literature Survey: Gap Identification Methods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743200"/>
                <a:gridCol w="2743200"/>
              </a:tblGrid>
              <a:tr h="10058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Critical Limitation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Bibliometric</a:t>
                      </a:r>
                    </a:p>
                    <a:p>
                      <a:r>
                        <a:t>(Hicks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Citation analysis</a:t>
                      </a:r>
                    </a:p>
                    <a:p>
                      <a:r>
                        <a:t>Co-citation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Manual expert analysis</a:t>
                      </a:r>
                    </a:p>
                    <a:p>
                      <a:r>
                        <a:t>Not scalable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Keyword-based</a:t>
                      </a:r>
                    </a:p>
                    <a:p>
                      <a:r>
                        <a:t>(Wang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Topic modeling</a:t>
                      </a:r>
                    </a:p>
                    <a:p>
                      <a:r>
                        <a:t>Keyword 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Misses semantics</a:t>
                      </a:r>
                    </a:p>
                    <a:p>
                      <a:r>
                        <a:t>No confidence scores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ABC Model</a:t>
                      </a:r>
                    </a:p>
                    <a:p>
                      <a:r>
                        <a:t>(Swanson)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Co-occurrence</a:t>
                      </a:r>
                    </a:p>
                    <a:p>
                      <a:r>
                        <a:t>Hidden connections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Simple co-occur</a:t>
                      </a:r>
                    </a:p>
                    <a:p>
                      <a:r>
                        <a:t>No deep learning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Topic Evolution</a:t>
                      </a:r>
                    </a:p>
                    <a:p>
                      <a:r>
                        <a:t>(Various)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2015-2020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Temporal analysis</a:t>
                      </a:r>
                    </a:p>
                    <a:p>
                      <a:r>
                        <a:t>Trend identification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Descriptive only</a:t>
                      </a:r>
                    </a:p>
                    <a:p>
                      <a:r>
                        <a:t>No predictions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Identified Research Gaps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2194560"/>
                <a:gridCol w="2194560"/>
              </a:tblGrid>
              <a:tr h="62865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Gap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Research Gap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Current State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Our Solution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Automated</a:t>
                      </a:r>
                    </a:p>
                    <a:p>
                      <a:r>
                        <a:t>Gap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Manual expert</a:t>
                      </a:r>
                    </a:p>
                    <a:p>
                      <a:r>
                        <a:t>analysis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Fully automated</a:t>
                      </a:r>
                    </a:p>
                    <a:p>
                      <a:r>
                        <a:t>GNN pipeline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GAP-2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Domain GNN</a:t>
                      </a:r>
                    </a:p>
                    <a:p>
                      <a:r>
                        <a:t>for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GNN for social</a:t>
                      </a:r>
                    </a:p>
                    <a:p>
                      <a:r>
                        <a:t>networks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Medical domain-</a:t>
                      </a:r>
                    </a:p>
                    <a:p>
                      <a:r>
                        <a:t>adapted GCN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GAP-3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Single-Source</a:t>
                      </a:r>
                    </a:p>
                    <a:p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One database</a:t>
                      </a:r>
                    </a:p>
                    <a:p>
                      <a:r>
                        <a:t>(PubMed/S2)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Multi-source</a:t>
                      </a:r>
                    </a:p>
                    <a:p>
                      <a:r>
                        <a:t>aggregation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GAP-4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AI</a:t>
                      </a:r>
                    </a:p>
                    <a:p>
                      <a:r>
                        <a:t>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Black box</a:t>
                      </a:r>
                    </a:p>
                    <a:p>
                      <a:r>
                        <a:t>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Complete metric</a:t>
                      </a:r>
                    </a:p>
                    <a:p>
                      <a:r>
                        <a:t>disclosure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GAP-5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Interactive</a:t>
                      </a:r>
                    </a:p>
                    <a:p>
                      <a:r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Static reports</a:t>
                      </a:r>
                    </a:p>
                    <a:p>
                      <a:r>
                        <a:t>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3D interactive</a:t>
                      </a:r>
                    </a:p>
                    <a:p>
                      <a:r>
                        <a:t>graph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GAP-6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Confidence</a:t>
                      </a:r>
                    </a:p>
                    <a:p>
                      <a:r>
                        <a:t>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Binary yes/no</a:t>
                      </a:r>
                    </a:p>
                    <a:p>
                      <a:r>
                        <a:t>suggestions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Probabilistic</a:t>
                      </a:r>
                    </a:p>
                    <a:p>
                      <a:r>
                        <a:t>0-100% scores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GAP-7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Domain-Specific</a:t>
                      </a:r>
                    </a:p>
                    <a:p>
                      <a:r>
                        <a:t>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Mental health</a:t>
                      </a:r>
                    </a:p>
                    <a:p>
                      <a:r>
                        <a:t>only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Domain-agnostic</a:t>
                      </a:r>
                    </a:p>
                    <a:p>
                      <a:r>
                        <a:t>architecture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Our Unique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500"/>
            </a:pPr>
            <a:r>
              <a:t>This project addresses ALL 7 identified gaps: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Novel Methodology:</a:t>
            </a:r>
          </a:p>
          <a:p>
            <a:pPr>
              <a:spcAft>
                <a:spcPts val="800"/>
              </a:spcAft>
              <a:defRPr sz="1500"/>
            </a:pPr>
            <a:r>
              <a:t>  • First AI system specifically for 'negative knowledge' discovery</a:t>
            </a:r>
          </a:p>
          <a:p>
            <a:pPr>
              <a:spcAft>
                <a:spcPts val="800"/>
              </a:spcAft>
              <a:defRPr sz="1500"/>
            </a:pPr>
            <a:r>
              <a:t>  • Combines NLP + Knowledge Graphs + GNN innovatively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Technical Innovation:</a:t>
            </a:r>
          </a:p>
          <a:p>
            <a:pPr>
              <a:spcAft>
                <a:spcPts val="800"/>
              </a:spcAft>
              <a:defRPr sz="1500"/>
            </a:pPr>
            <a:r>
              <a:t>  • Domain-adapted GCN for scientific literature (first application)</a:t>
            </a:r>
          </a:p>
          <a:p>
            <a:pPr>
              <a:spcAft>
                <a:spcPts val="800"/>
              </a:spcAft>
              <a:defRPr sz="1500"/>
            </a:pPr>
            <a:r>
              <a:t>  • Multi-source data integration (Semantic Scholar + arXiv + PubMed)</a:t>
            </a:r>
          </a:p>
          <a:p>
            <a:pPr>
              <a:spcAft>
                <a:spcPts val="800"/>
              </a:spcAft>
              <a:defRPr sz="1500"/>
            </a:pPr>
            <a:r>
              <a:t>  • Probabilistic confidence scoring for research priorities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Practical Impact:</a:t>
            </a:r>
          </a:p>
          <a:p>
            <a:pPr>
              <a:spcAft>
                <a:spcPts val="800"/>
              </a:spcAft>
              <a:defRPr sz="1500"/>
            </a:pPr>
            <a:r>
              <a:t>  • Accelerates gap identification from weeks → hours</a:t>
            </a:r>
          </a:p>
          <a:p>
            <a:pPr>
              <a:spcAft>
                <a:spcPts val="800"/>
              </a:spcAft>
              <a:defRPr sz="1500"/>
            </a:pPr>
            <a:r>
              <a:t>  • Provides actionable, ranked research opportunities</a:t>
            </a:r>
          </a:p>
          <a:p>
            <a:pPr>
              <a:spcAft>
                <a:spcPts val="800"/>
              </a:spcAft>
              <a:defRPr sz="1500"/>
            </a:pPr>
            <a:r>
              <a:t>  • Complete AI transparency for research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500"/>
            </a:pPr>
            <a:r>
              <a:t>Primary Objective:</a:t>
            </a:r>
          </a:p>
          <a:p>
            <a:pPr>
              <a:spcAft>
                <a:spcPts val="800"/>
              </a:spcAft>
              <a:defRPr sz="1500"/>
            </a:pPr>
            <a:r>
              <a:t>Design and develop an AI system that automatically discovers under-researched connections in scientific literature.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Specific Objectives:</a:t>
            </a:r>
          </a:p>
          <a:p>
            <a:pPr>
              <a:spcAft>
                <a:spcPts val="800"/>
              </a:spcAft>
              <a:defRPr sz="1500"/>
            </a:pPr>
            <a:r>
              <a:t>1. Design multi-source data aggregation pipeline (target: 500+ papers)</a:t>
            </a:r>
          </a:p>
          <a:p>
            <a:pPr>
              <a:spcAft>
                <a:spcPts val="800"/>
              </a:spcAft>
              <a:defRPr sz="1500"/>
            </a:pPr>
            <a:r>
              <a:t>2. Develop biomedical NLP pipeline (target: 600+ concepts extracted)</a:t>
            </a:r>
          </a:p>
          <a:p>
            <a:pPr>
              <a:spcAft>
                <a:spcPts val="800"/>
              </a:spcAft>
              <a:defRPr sz="1500"/>
            </a:pPr>
            <a:r>
              <a:t>3. Construct knowledge graph (target: 2,000+ documented relationships)</a:t>
            </a:r>
          </a:p>
          <a:p>
            <a:pPr>
              <a:spcAft>
                <a:spcPts val="800"/>
              </a:spcAft>
              <a:defRPr sz="1500"/>
            </a:pPr>
            <a:r>
              <a:t>4. Implement &amp; train Graph Convolutional Network (target: &gt;95% ROC-AUC)</a:t>
            </a:r>
          </a:p>
          <a:p>
            <a:pPr>
              <a:spcAft>
                <a:spcPts val="800"/>
              </a:spcAft>
              <a:defRPr sz="1500"/>
            </a:pPr>
            <a:r>
              <a:t>5. Generate high-confidence research gap predictions (target: 20-50 gaps)</a:t>
            </a:r>
          </a:p>
          <a:p>
            <a:pPr>
              <a:spcAft>
                <a:spcPts val="800"/>
              </a:spcAft>
              <a:defRPr sz="1500"/>
            </a:pPr>
            <a:r>
              <a:t>6. Create interactive 3D visualization with complete AI transparency</a:t>
            </a:r>
          </a:p>
          <a:p>
            <a:pPr>
              <a:spcAft>
                <a:spcPts val="800"/>
              </a:spcAft>
              <a:defRPr sz="1500"/>
            </a:pPr>
            <a:r>
              <a:t>7. Validate approach across multiple medical domains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Proposed Methodology: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500"/>
            </a:pPr>
            <a:r>
              <a:t>9-Phase AI Pipeline: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Phase 1-2: Multi-Source Data Collection (500+ papers)</a:t>
            </a:r>
          </a:p>
          <a:p>
            <a:pPr>
              <a:spcAft>
                <a:spcPts val="800"/>
              </a:spcAft>
              <a:defRPr sz="1500"/>
            </a:pPr>
            <a:r>
              <a:t>Phase 3: Biomedical NLP Entity Extraction (ScispaCy)</a:t>
            </a:r>
          </a:p>
          <a:p>
            <a:pPr>
              <a:spcAft>
                <a:spcPts val="800"/>
              </a:spcAft>
              <a:defRPr sz="1500"/>
            </a:pPr>
            <a:r>
              <a:t>Phase 4: Entity Classification (5 categories)</a:t>
            </a:r>
          </a:p>
          <a:p>
            <a:pPr>
              <a:spcAft>
                <a:spcPts val="800"/>
              </a:spcAft>
              <a:defRPr sz="1500"/>
            </a:pPr>
            <a:r>
              <a:t>Phase 5: Relation Extraction (co-occurrence analysis)</a:t>
            </a:r>
          </a:p>
          <a:p>
            <a:pPr>
              <a:spcAft>
                <a:spcPts val="800"/>
              </a:spcAft>
              <a:defRPr sz="1500"/>
            </a:pPr>
            <a:r>
              <a:t>Phase 6: Knowledge Graph Construction (NetworkX)</a:t>
            </a:r>
          </a:p>
          <a:p>
            <a:pPr>
              <a:spcAft>
                <a:spcPts val="800"/>
              </a:spcAft>
              <a:defRPr sz="1500"/>
            </a:pPr>
            <a:r>
              <a:t>Phase 7: Graph Embedding Training (Node2Vec, 64D)</a:t>
            </a:r>
          </a:p>
          <a:p>
            <a:pPr>
              <a:spcAft>
                <a:spcPts val="800"/>
              </a:spcAft>
              <a:defRPr sz="1500"/>
            </a:pPr>
            <a:r>
              <a:t>Phase 8: GNN Model Training (Graph Convolutional Network)</a:t>
            </a:r>
          </a:p>
          <a:p>
            <a:pPr>
              <a:spcAft>
                <a:spcPts val="800"/>
              </a:spcAft>
              <a:defRPr sz="1500"/>
            </a:pPr>
            <a:r>
              <a:t>Phase 9: Research Gap Prediction &amp; Visualization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End-to-end automated pipeline with human validation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Methodology: Data Collection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400"/>
            </a:pPr>
            <a:r>
              <a:t>Multi-Source Approach (addresses GAP-3):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Source 1: Semantic Scholar API</a:t>
            </a:r>
          </a:p>
          <a:p>
            <a:pPr>
              <a:spcAft>
                <a:spcPts val="800"/>
              </a:spcAft>
              <a:defRPr sz="1400"/>
            </a:pPr>
            <a:r>
              <a:t>  • 10 search terms × 5 pages × 100 results = 300-500 papers</a:t>
            </a:r>
          </a:p>
          <a:p>
            <a:pPr>
              <a:spcAft>
                <a:spcPts val="800"/>
              </a:spcAft>
              <a:defRPr sz="1400"/>
            </a:pPr>
            <a:r>
              <a:t>  • Fields: title, abstract, year, authors, venue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Source 2: arXiv API</a:t>
            </a:r>
          </a:p>
          <a:p>
            <a:pPr>
              <a:spcAft>
                <a:spcPts val="800"/>
              </a:spcAft>
              <a:defRPr sz="1400"/>
            </a:pPr>
            <a:r>
              <a:t>  • Psychology/neuroscience categories (q-bio.NC, cs.CY)</a:t>
            </a:r>
          </a:p>
          <a:p>
            <a:pPr>
              <a:spcAft>
                <a:spcPts val="800"/>
              </a:spcAft>
              <a:defRPr sz="1400"/>
            </a:pPr>
            <a:r>
              <a:t>  • 100-150 papers from mental health queries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Source 3: PubMed Entrez API</a:t>
            </a:r>
          </a:p>
          <a:p>
            <a:pPr>
              <a:spcAft>
                <a:spcPts val="800"/>
              </a:spcAft>
              <a:defRPr sz="1400"/>
            </a:pPr>
            <a:r>
              <a:t>  • MeSH term searches with abstract requirement</a:t>
            </a:r>
          </a:p>
          <a:p>
            <a:pPr>
              <a:spcAft>
                <a:spcPts val="800"/>
              </a:spcAft>
              <a:defRPr sz="1400"/>
            </a:pPr>
            <a:r>
              <a:t>  • Target: 200+ medical literature papers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Storage: SQLite database with full metadata tracking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Methodology: NLP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300"/>
            </a:pPr>
            <a:r>
              <a:t>Phase 3: Entity Extraction</a:t>
            </a:r>
          </a:p>
          <a:p>
            <a:pPr>
              <a:spcAft>
                <a:spcPts val="800"/>
              </a:spcAft>
              <a:defRPr sz="1300"/>
            </a:pPr>
            <a:r>
              <a:t>  • Models: ScispaCy (en_core_sci_sm + en_ner_bc5cdr_md)</a:t>
            </a:r>
          </a:p>
          <a:p>
            <a:pPr>
              <a:spcAft>
                <a:spcPts val="800"/>
              </a:spcAft>
              <a:defRPr sz="1300"/>
            </a:pPr>
            <a:r>
              <a:t>  • Extract: Diseases, chemicals, therapies, populations</a:t>
            </a:r>
          </a:p>
          <a:p>
            <a:pPr>
              <a:spcAft>
                <a:spcPts val="800"/>
              </a:spcAft>
              <a:defRPr sz="1300"/>
            </a:pPr>
            <a:r>
              <a:t>  • Confidence: Filter entities with score &gt;0.7</a:t>
            </a:r>
          </a:p>
          <a:p>
            <a:pPr>
              <a:spcAft>
                <a:spcPts val="800"/>
              </a:spcAft>
              <a:defRPr sz="1300"/>
            </a:pPr>
          </a:p>
          <a:p>
            <a:pPr>
              <a:spcAft>
                <a:spcPts val="800"/>
              </a:spcAft>
              <a:defRPr sz="1300"/>
            </a:pPr>
            <a:r>
              <a:t>Phase 4: Entity Classification</a:t>
            </a:r>
          </a:p>
          <a:p>
            <a:pPr>
              <a:spcAft>
                <a:spcPts val="800"/>
              </a:spcAft>
              <a:defRPr sz="1300"/>
            </a:pPr>
            <a:r>
              <a:t>  • Rule-based keyword matching into 5 categories:</a:t>
            </a:r>
          </a:p>
          <a:p>
            <a:pPr>
              <a:spcAft>
                <a:spcPts val="800"/>
              </a:spcAft>
              <a:defRPr sz="1300"/>
            </a:pPr>
            <a:r>
              <a:t>    - Disorders (depression, anxiety, PTSD...)</a:t>
            </a:r>
          </a:p>
          <a:p>
            <a:pPr>
              <a:spcAft>
                <a:spcPts val="800"/>
              </a:spcAft>
              <a:defRPr sz="1300"/>
            </a:pPr>
            <a:r>
              <a:t>    - Therapies (CBT, DBT, medication...)</a:t>
            </a:r>
          </a:p>
          <a:p>
            <a:pPr>
              <a:spcAft>
                <a:spcPts val="800"/>
              </a:spcAft>
              <a:defRPr sz="1300"/>
            </a:pPr>
            <a:r>
              <a:t>    - Risk Factors (trauma, stress, abuse...)</a:t>
            </a:r>
          </a:p>
          <a:p>
            <a:pPr>
              <a:spcAft>
                <a:spcPts val="800"/>
              </a:spcAft>
              <a:defRPr sz="1300"/>
            </a:pPr>
            <a:r>
              <a:t>    - Populations (adolescent, adult, elderly...)</a:t>
            </a:r>
          </a:p>
          <a:p>
            <a:pPr>
              <a:spcAft>
                <a:spcPts val="800"/>
              </a:spcAft>
              <a:defRPr sz="1300"/>
            </a:pPr>
            <a:r>
              <a:t>    - Outcomes (recovery, relapse, mortality...)</a:t>
            </a:r>
          </a:p>
          <a:p>
            <a:pPr>
              <a:spcAft>
                <a:spcPts val="800"/>
              </a:spcAft>
              <a:defRPr sz="1300"/>
            </a:pPr>
          </a:p>
          <a:p>
            <a:pPr>
              <a:spcAft>
                <a:spcPts val="800"/>
              </a:spcAft>
              <a:defRPr sz="1300"/>
            </a:pPr>
            <a:r>
              <a:t>Phase 5: Relation Extraction</a:t>
            </a:r>
          </a:p>
          <a:p>
            <a:pPr>
              <a:spcAft>
                <a:spcPts val="800"/>
              </a:spcAft>
              <a:defRPr sz="1300"/>
            </a:pPr>
            <a:r>
              <a:t>  • Co-occurrence at sentence level</a:t>
            </a:r>
          </a:p>
          <a:p>
            <a:pPr>
              <a:spcAft>
                <a:spcPts val="800"/>
              </a:spcAft>
              <a:defRPr sz="1300"/>
            </a:pPr>
            <a:r>
              <a:t>  • Create edges between entities appearing together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Methodology: Knowledge Graph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400"/>
            </a:pPr>
            <a:r>
              <a:t>Phase 6: Graph Building (NetworkX)</a:t>
            </a:r>
          </a:p>
          <a:p>
            <a:pPr>
              <a:spcAft>
                <a:spcPts val="800"/>
              </a:spcAft>
              <a:defRPr sz="1400"/>
            </a:pPr>
            <a:r>
              <a:t>  • Nodes: Entities with attributes (name, category, frequency)</a:t>
            </a:r>
          </a:p>
          <a:p>
            <a:pPr>
              <a:spcAft>
                <a:spcPts val="800"/>
              </a:spcAft>
              <a:defRPr sz="1400"/>
            </a:pPr>
            <a:r>
              <a:t>  • Edges: Relations with weights (co-occurrence count)</a:t>
            </a:r>
          </a:p>
          <a:p>
            <a:pPr>
              <a:spcAft>
                <a:spcPts val="800"/>
              </a:spcAft>
              <a:defRPr sz="1400"/>
            </a:pPr>
            <a:r>
              <a:t>  • Target: 600+ nodes, 2,000+ edges</a:t>
            </a:r>
          </a:p>
          <a:p>
            <a:pPr>
              <a:spcAft>
                <a:spcPts val="800"/>
              </a:spcAft>
              <a:defRPr sz="1400"/>
            </a:pPr>
            <a:r>
              <a:t>  • Compute: Degree centrality, betweenness, PageRank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Phase 7: Graph Embeddings (Node2Vec)</a:t>
            </a:r>
          </a:p>
          <a:p>
            <a:pPr>
              <a:spcAft>
                <a:spcPts val="800"/>
              </a:spcAft>
              <a:defRPr sz="1400"/>
            </a:pPr>
            <a:r>
              <a:t>  • Dimensions: 64</a:t>
            </a:r>
          </a:p>
          <a:p>
            <a:pPr>
              <a:spcAft>
                <a:spcPts val="800"/>
              </a:spcAft>
              <a:defRPr sz="1400"/>
            </a:pPr>
            <a:r>
              <a:t>  • Walk length: 30 steps</a:t>
            </a:r>
          </a:p>
          <a:p>
            <a:pPr>
              <a:spcAft>
                <a:spcPts val="800"/>
              </a:spcAft>
              <a:defRPr sz="1400"/>
            </a:pPr>
            <a:r>
              <a:t>  • Walks per node: 200</a:t>
            </a:r>
          </a:p>
          <a:p>
            <a:pPr>
              <a:spcAft>
                <a:spcPts val="800"/>
              </a:spcAft>
              <a:defRPr sz="1400"/>
            </a:pPr>
            <a:r>
              <a:t>  • Window size: 10</a:t>
            </a:r>
          </a:p>
          <a:p>
            <a:pPr>
              <a:spcAft>
                <a:spcPts val="800"/>
              </a:spcAft>
              <a:defRPr sz="1400"/>
            </a:pPr>
            <a:r>
              <a:t>  • Output: 64D vector representation for each concept</a:t>
            </a:r>
          </a:p>
          <a:p>
            <a:pPr>
              <a:spcAft>
                <a:spcPts val="800"/>
              </a:spcAft>
              <a:defRPr sz="1400"/>
            </a:pPr>
            <a:r>
              <a:t>  • Purpose: Capture semantic similarity for GNN input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Methodology: GNN Training &amp; Gap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300"/>
            </a:pPr>
            <a:r>
              <a:t>Phase 8: Graph Convolutional Network</a:t>
            </a:r>
          </a:p>
          <a:p>
            <a:pPr>
              <a:spcAft>
                <a:spcPts val="800"/>
              </a:spcAft>
              <a:defRPr sz="1300"/>
            </a:pPr>
            <a:r>
              <a:t>  • Architecture:</a:t>
            </a:r>
          </a:p>
          <a:p>
            <a:pPr>
              <a:spcAft>
                <a:spcPts val="800"/>
              </a:spcAft>
              <a:defRPr sz="1300"/>
            </a:pPr>
            <a:r>
              <a:t>    - Input: 64D Node2Vec embeddings</a:t>
            </a:r>
          </a:p>
          <a:p>
            <a:pPr>
              <a:spcAft>
                <a:spcPts val="800"/>
              </a:spcAft>
              <a:defRPr sz="1300"/>
            </a:pPr>
            <a:r>
              <a:t>    - Layer 1: GCN(64→64) + ReLU activation</a:t>
            </a:r>
          </a:p>
          <a:p>
            <a:pPr>
              <a:spcAft>
                <a:spcPts val="800"/>
              </a:spcAft>
              <a:defRPr sz="1300"/>
            </a:pPr>
            <a:r>
              <a:t>    - Layer 2: GCN(64→32)</a:t>
            </a:r>
          </a:p>
          <a:p>
            <a:pPr>
              <a:spcAft>
                <a:spcPts val="800"/>
              </a:spcAft>
              <a:defRPr sz="1300"/>
            </a:pPr>
            <a:r>
              <a:t>    - Decoder: Dot product for link prediction</a:t>
            </a:r>
          </a:p>
          <a:p>
            <a:pPr>
              <a:spcAft>
                <a:spcPts val="800"/>
              </a:spcAft>
              <a:defRPr sz="1300"/>
            </a:pPr>
            <a:r>
              <a:t>  • Training: 200 epochs, Adam optimizer (lr=0.01)</a:t>
            </a:r>
          </a:p>
          <a:p>
            <a:pPr>
              <a:spcAft>
                <a:spcPts val="800"/>
              </a:spcAft>
              <a:defRPr sz="1300"/>
            </a:pPr>
            <a:r>
              <a:t>  • Loss: Binary cross-entropy</a:t>
            </a:r>
          </a:p>
          <a:p>
            <a:pPr>
              <a:spcAft>
                <a:spcPts val="800"/>
              </a:spcAft>
              <a:defRPr sz="1300"/>
            </a:pPr>
            <a:r>
              <a:t>  • Target: &gt;95% ROC-AUC on validation set</a:t>
            </a:r>
          </a:p>
          <a:p>
            <a:pPr>
              <a:spcAft>
                <a:spcPts val="800"/>
              </a:spcAft>
              <a:defRPr sz="1300"/>
            </a:pPr>
          </a:p>
          <a:p>
            <a:pPr>
              <a:spcAft>
                <a:spcPts val="800"/>
              </a:spcAft>
              <a:defRPr sz="1300"/>
            </a:pPr>
            <a:r>
              <a:t>Phase 9: Research Gap Prediction</a:t>
            </a:r>
          </a:p>
          <a:p>
            <a:pPr>
              <a:spcAft>
                <a:spcPts val="800"/>
              </a:spcAft>
              <a:defRPr sz="1300"/>
            </a:pPr>
            <a:r>
              <a:t>  • Generate 10,000-15,000 candidate missing edges</a:t>
            </a:r>
          </a:p>
          <a:p>
            <a:pPr>
              <a:spcAft>
                <a:spcPts val="800"/>
              </a:spcAft>
              <a:defRPr sz="1300"/>
            </a:pPr>
            <a:r>
              <a:t>  • Score each with trained GNN (0-100% probability)</a:t>
            </a:r>
          </a:p>
          <a:p>
            <a:pPr>
              <a:spcAft>
                <a:spcPts val="800"/>
              </a:spcAft>
              <a:defRPr sz="1300"/>
            </a:pPr>
            <a:r>
              <a:t>  • Rank by confidence, select top 20-50</a:t>
            </a:r>
          </a:p>
          <a:p>
            <a:pPr>
              <a:spcAft>
                <a:spcPts val="800"/>
              </a:spcAft>
              <a:defRPr sz="1300"/>
            </a:pPr>
            <a:r>
              <a:t>  • Create interactive 3D visualization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Expected Outcomes &amp; Deliverables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4572000"/>
              </a:tblGrid>
              <a:tr h="8382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Technical</a:t>
                      </a:r>
                    </a:p>
                    <a:p>
                      <a: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Functional AI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Multi-source pipeline</a:t>
                      </a:r>
                    </a:p>
                    <a:p>
                      <a:r>
                        <a:t>Trained GNN (&gt;95% acc)</a:t>
                      </a:r>
                    </a:p>
                    <a:p>
                      <a:r>
                        <a:t>3D visualization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Research</a:t>
                      </a:r>
                    </a:p>
                    <a:p>
                      <a:r>
                        <a:t>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Knowledge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600+ concepts</a:t>
                      </a:r>
                    </a:p>
                    <a:p>
                      <a:r>
                        <a:t>2,000+ connections</a:t>
                      </a:r>
                    </a:p>
                    <a:p>
                      <a:r>
                        <a:t>Full metadata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Research</a:t>
                      </a:r>
                    </a:p>
                    <a:p>
                      <a:r>
                        <a:t>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Gap Predictions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20-50 high-confidence</a:t>
                      </a:r>
                    </a:p>
                    <a:p>
                      <a:r>
                        <a:t>Ranked by probability</a:t>
                      </a:r>
                    </a:p>
                    <a:p>
                      <a:r>
                        <a:t>Validated predictions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Complete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Technical manual</a:t>
                      </a:r>
                    </a:p>
                    <a:p>
                      <a:r>
                        <a:t>User guide</a:t>
                      </a:r>
                    </a:p>
                    <a:p>
                      <a:r>
                        <a:t>API docs</a:t>
                      </a:r>
                    </a:p>
                    <a:p>
                      <a:r>
                        <a:t>Paper draft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Academic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Novel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First 'negative knowledge'</a:t>
                      </a:r>
                    </a:p>
                    <a:p>
                      <a:r>
                        <a:t>Domain-adapted GNN</a:t>
                      </a:r>
                    </a:p>
                    <a:p>
                      <a:r>
                        <a:t>Open methodology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Success Criteria &amp;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4114800"/>
              </a:tblGrid>
              <a:tr h="62865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Validation Method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500+ papers</a:t>
                      </a:r>
                    </a:p>
                    <a:p>
                      <a:r>
                        <a:t>3+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Database query count</a:t>
                      </a:r>
                    </a:p>
                    <a:p>
                      <a:r>
                        <a:t>Source diversity check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Entity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600+ concepts</a:t>
                      </a:r>
                    </a:p>
                    <a:p>
                      <a:r>
                        <a:t>&gt;85%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Manual annotation (50 samples)</a:t>
                      </a:r>
                    </a:p>
                    <a:p>
                      <a:r>
                        <a:t>Inter-annotator agreement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Graph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2,000+ edges</a:t>
                      </a:r>
                    </a:p>
                    <a:p>
                      <a:r>
                        <a:t>Connected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Network analysis</a:t>
                      </a:r>
                    </a:p>
                    <a:p>
                      <a:r>
                        <a:t>Expert review of structure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Model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&gt;95% ROC-AUC</a:t>
                      </a:r>
                    </a:p>
                    <a:p>
                      <a:r>
                        <a:t>&gt;90% Precision@20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Test set evaluation</a:t>
                      </a:r>
                    </a:p>
                    <a:p>
                      <a:r>
                        <a:t>Cross-validation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Prediction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20+ gaps &gt;90% conf</a:t>
                      </a:r>
                    </a:p>
                    <a:p>
                      <a:r>
                        <a:t>≥70% novel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Literature verification</a:t>
                      </a:r>
                    </a:p>
                    <a:p>
                      <a:r>
                        <a:t>Recent paper check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Expert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≥4/5 rating</a:t>
                      </a:r>
                    </a:p>
                    <a:p>
                      <a:r>
                        <a:t>80% plausible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Domain expert survey</a:t>
                      </a:r>
                    </a:p>
                    <a:p>
                      <a:r>
                        <a:t>5-point Likert scale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≥70/100 SUS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User study (5-10 researchers)</a:t>
                      </a:r>
                    </a:p>
                    <a:p>
                      <a:r>
                        <a:t>System Usability Scale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12-Week Implementation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3200400"/>
                <a:gridCol w="15544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Key Activities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API integration, scraping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500+ papers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NLP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Entity extraction,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600+ concepts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Relation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Co-occurrence,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2,000+ relations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Graph 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NetworkX, centrality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Knowledge graph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Node2Vec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64D vectors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GNN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Model design,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Trained GNN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Gap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Link prediction,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20-50 gaps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3D graph,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Interactive tool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Metrics, expert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Validation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Docs, paper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Delivery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Resource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400"/>
            </a:pPr>
            <a:r>
              <a:t>Human Resources:</a:t>
            </a:r>
          </a:p>
          <a:p>
            <a:pPr>
              <a:spcAft>
                <a:spcPts val="800"/>
              </a:spcAft>
              <a:defRPr sz="1400"/>
            </a:pPr>
            <a:r>
              <a:t>  • Student researcher: Full-time (12 weeks)</a:t>
            </a:r>
          </a:p>
          <a:p>
            <a:pPr>
              <a:spcAft>
                <a:spcPts val="800"/>
              </a:spcAft>
              <a:defRPr sz="1400"/>
            </a:pPr>
            <a:r>
              <a:t>  • Faculty advisor: 2-3 hours/week for guidance</a:t>
            </a:r>
          </a:p>
          <a:p>
            <a:pPr>
              <a:spcAft>
                <a:spcPts val="800"/>
              </a:spcAft>
              <a:defRPr sz="1400"/>
            </a:pPr>
            <a:r>
              <a:t>  • Domain expert: 1-2 hours (validation phase)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Computational Resources:</a:t>
            </a:r>
          </a:p>
          <a:p>
            <a:pPr>
              <a:spcAft>
                <a:spcPts val="800"/>
              </a:spcAft>
              <a:defRPr sz="1400"/>
            </a:pPr>
            <a:r>
              <a:t>  • Personal computer: Quad-core CPU, 8GB+ RAM (sufficient)</a:t>
            </a:r>
          </a:p>
          <a:p>
            <a:pPr>
              <a:spcAft>
                <a:spcPts val="800"/>
              </a:spcAft>
              <a:defRPr sz="1400"/>
            </a:pPr>
            <a:r>
              <a:t>  • Google Colab: Optional free GPU for faster training</a:t>
            </a:r>
          </a:p>
          <a:p>
            <a:pPr>
              <a:spcAft>
                <a:spcPts val="800"/>
              </a:spcAft>
              <a:defRPr sz="1400"/>
            </a:pPr>
            <a:r>
              <a:t>  • Storage: ~5GB for papers, models, graphs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Software: All open-source and free</a:t>
            </a:r>
          </a:p>
          <a:p>
            <a:pPr>
              <a:spcAft>
                <a:spcPts val="800"/>
              </a:spcAft>
              <a:defRPr sz="1400"/>
            </a:pPr>
            <a:r>
              <a:t>  • Python, PyTorch, NetworkX, scispaCy, Plotly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Estimated Budget: ₹0-5,000</a:t>
            </a:r>
          </a:p>
          <a:p>
            <a:pPr>
              <a:spcAft>
                <a:spcPts val="800"/>
              </a:spcAft>
              <a:defRPr sz="1400"/>
            </a:pPr>
            <a:r>
              <a:t>  • Mostly zero cost (free APIs, open-source tools)</a:t>
            </a:r>
          </a:p>
          <a:p>
            <a:pPr>
              <a:spcAft>
                <a:spcPts val="800"/>
              </a:spcAft>
              <a:defRPr sz="1400"/>
            </a:pPr>
            <a:r>
              <a:t>  • Minimal: Expert consultation, cloud computing (if needed)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Risk Analysis &amp; Mitigation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188720"/>
                <a:gridCol w="402336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API rate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Exponential backoff</a:t>
                      </a:r>
                    </a:p>
                    <a:p>
                      <a:r>
                        <a:t>Multiple APIs</a:t>
                      </a:r>
                    </a:p>
                    <a:p>
                      <a:r>
                        <a:t>Local caching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 NLP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Ensemble models</a:t>
                      </a:r>
                    </a:p>
                    <a:p>
                      <a:r>
                        <a:t>Manual validation</a:t>
                      </a:r>
                    </a:p>
                    <a:p>
                      <a:r>
                        <a:t>Domain tuning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Sparse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Collect more papers</a:t>
                      </a:r>
                    </a:p>
                    <a:p>
                      <a:r>
                        <a:t>Graph augmentation</a:t>
                      </a:r>
                    </a:p>
                    <a:p>
                      <a:r>
                        <a:t>Lower threshold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Model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Try alternatives (GAT)</a:t>
                      </a:r>
                    </a:p>
                    <a:p>
                      <a:r>
                        <a:t>Hyperparameter tuning</a:t>
                      </a:r>
                    </a:p>
                    <a:p>
                      <a:r>
                        <a:t>Ensemble methods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Expert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Early partnerships</a:t>
                      </a:r>
                    </a:p>
                    <a:p>
                      <a:r>
                        <a:t>University contacts</a:t>
                      </a:r>
                    </a:p>
                    <a:p>
                      <a:r>
                        <a:t>Online survey option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Time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Phased approach</a:t>
                      </a:r>
                    </a:p>
                    <a:p>
                      <a:r>
                        <a:t>Core features first</a:t>
                      </a:r>
                    </a:p>
                    <a:p>
                      <a:r>
                        <a:t>Extensions optional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Innovation &amp; 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400"/>
            </a:pPr>
            <a:r>
              <a:t>Scientific Innovation:</a:t>
            </a:r>
          </a:p>
          <a:p>
            <a:pPr>
              <a:spcAft>
                <a:spcPts val="800"/>
              </a:spcAft>
              <a:defRPr sz="1400"/>
            </a:pPr>
            <a:r>
              <a:t>  • First systematic AI approach to 'negative knowledge' discovery</a:t>
            </a:r>
          </a:p>
          <a:p>
            <a:pPr>
              <a:spcAft>
                <a:spcPts val="800"/>
              </a:spcAft>
              <a:defRPr sz="1400"/>
            </a:pPr>
            <a:r>
              <a:t>  • Novel application of GNN to medical literature analysis</a:t>
            </a:r>
          </a:p>
          <a:p>
            <a:pPr>
              <a:spcAft>
                <a:spcPts val="800"/>
              </a:spcAft>
              <a:defRPr sz="1400"/>
            </a:pPr>
            <a:r>
              <a:t>  • Methodological contribution to research gap identification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Practical Impact for Researchers:</a:t>
            </a:r>
          </a:p>
          <a:p>
            <a:pPr>
              <a:spcAft>
                <a:spcPts val="800"/>
              </a:spcAft>
              <a:defRPr sz="1400"/>
            </a:pPr>
            <a:r>
              <a:t>  • Accelerate literature review: weeks → hours</a:t>
            </a:r>
          </a:p>
          <a:p>
            <a:pPr>
              <a:spcAft>
                <a:spcPts val="800"/>
              </a:spcAft>
              <a:defRPr sz="1400"/>
            </a:pPr>
            <a:r>
              <a:t>  • Discover non-obvious interdisciplinary connections</a:t>
            </a:r>
          </a:p>
          <a:p>
            <a:pPr>
              <a:spcAft>
                <a:spcPts val="800"/>
              </a:spcAft>
              <a:defRPr sz="1400"/>
            </a:pPr>
            <a:r>
              <a:t>  • Priority-based research planning with confidence scores</a:t>
            </a:r>
          </a:p>
          <a:p>
            <a:pPr>
              <a:spcAft>
                <a:spcPts val="800"/>
              </a:spcAft>
              <a:defRPr sz="1400"/>
            </a:pPr>
            <a:r>
              <a:t>  • Reduce redundant research efforts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Societal Impact:</a:t>
            </a:r>
          </a:p>
          <a:p>
            <a:pPr>
              <a:spcAft>
                <a:spcPts val="800"/>
              </a:spcAft>
              <a:defRPr sz="1400"/>
            </a:pPr>
            <a:r>
              <a:t>  • Faster medical breakthroughs through efficient research</a:t>
            </a:r>
          </a:p>
          <a:p>
            <a:pPr>
              <a:spcAft>
                <a:spcPts val="800"/>
              </a:spcAft>
              <a:defRPr sz="1400"/>
            </a:pPr>
            <a:r>
              <a:t>  • Improved mental health treatments and interventions</a:t>
            </a:r>
          </a:p>
          <a:p>
            <a:pPr>
              <a:spcAft>
                <a:spcPts val="800"/>
              </a:spcAft>
              <a:defRPr sz="1400"/>
            </a:pPr>
            <a:r>
              <a:t>  • Better allocation of research funding to gaps</a:t>
            </a:r>
          </a:p>
          <a:p>
            <a:pPr>
              <a:spcAft>
                <a:spcPts val="800"/>
              </a:spcAft>
              <a:defRPr sz="1400"/>
            </a:pPr>
            <a:r>
              <a:t>  • Democratize access to advanced research tools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Future Extensions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500"/>
            </a:pPr>
            <a:r>
              <a:t>Short-term (3-6 months):</a:t>
            </a:r>
          </a:p>
          <a:p>
            <a:pPr>
              <a:spcAft>
                <a:spcPts val="800"/>
              </a:spcAft>
              <a:defRPr sz="1500"/>
            </a:pPr>
            <a:r>
              <a:t>  • Expand to diabetes and cancer domains</a:t>
            </a:r>
          </a:p>
          <a:p>
            <a:pPr>
              <a:spcAft>
                <a:spcPts val="800"/>
              </a:spcAft>
              <a:defRPr sz="1500"/>
            </a:pPr>
            <a:r>
              <a:t>  • Improve relation typing (causes, treats, associated_with)</a:t>
            </a:r>
          </a:p>
          <a:p>
            <a:pPr>
              <a:spcAft>
                <a:spcPts val="800"/>
              </a:spcAft>
              <a:defRPr sz="1500"/>
            </a:pPr>
            <a:r>
              <a:t>  • Add temporal analysis for trend tracking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Medium-term (6-12 months):</a:t>
            </a:r>
          </a:p>
          <a:p>
            <a:pPr>
              <a:spcAft>
                <a:spcPts val="800"/>
              </a:spcAft>
              <a:defRPr sz="1500"/>
            </a:pPr>
            <a:r>
              <a:t>  • Causal inference for mechanism discovery</a:t>
            </a:r>
          </a:p>
          <a:p>
            <a:pPr>
              <a:spcAft>
                <a:spcPts val="800"/>
              </a:spcAft>
              <a:defRPr sz="1500"/>
            </a:pPr>
            <a:r>
              <a:t>  • Researcher collaboration network suggestions</a:t>
            </a:r>
          </a:p>
          <a:p>
            <a:pPr>
              <a:spcAft>
                <a:spcPts val="800"/>
              </a:spcAft>
              <a:defRPr sz="1500"/>
            </a:pPr>
            <a:r>
              <a:t>  • Integration with institutional research databases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Long-term Vision:</a:t>
            </a:r>
          </a:p>
          <a:p>
            <a:pPr>
              <a:spcAft>
                <a:spcPts val="800"/>
              </a:spcAft>
              <a:defRPr sz="1500"/>
            </a:pPr>
            <a:r>
              <a:t>  • Automated literature review generation</a:t>
            </a:r>
          </a:p>
          <a:p>
            <a:pPr>
              <a:spcAft>
                <a:spcPts val="800"/>
              </a:spcAft>
              <a:defRPr sz="1500"/>
            </a:pPr>
            <a:r>
              <a:t>  • Research funding opportunity matching</a:t>
            </a:r>
          </a:p>
          <a:p>
            <a:pPr>
              <a:spcAft>
                <a:spcPts val="800"/>
              </a:spcAft>
              <a:defRPr sz="1500"/>
            </a:pPr>
            <a:r>
              <a:t>  • Real-time gap monitoring as papers publish</a:t>
            </a:r>
          </a:p>
          <a:p>
            <a:pPr>
              <a:spcAft>
                <a:spcPts val="800"/>
              </a:spcAft>
              <a:defRPr sz="1500"/>
            </a:pPr>
            <a:r>
              <a:t>  • Multi-modal analysis (papers + clinical trials + patents)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500"/>
            </a:pPr>
            <a:r>
              <a:t>This project addresses a fundamental challenge in modern research:</a:t>
            </a:r>
          </a:p>
          <a:p>
            <a:pPr>
              <a:spcAft>
                <a:spcPts val="800"/>
              </a:spcAft>
              <a:defRPr sz="1500"/>
            </a:pPr>
            <a:r>
              <a:t>How to systematically discover what we DON'T know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Key Strengths:</a:t>
            </a:r>
          </a:p>
          <a:p>
            <a:pPr>
              <a:spcAft>
                <a:spcPts val="800"/>
              </a:spcAft>
              <a:defRPr sz="1500"/>
            </a:pPr>
            <a:r>
              <a:t>  • Fills 7 identified research gaps in current literature</a:t>
            </a:r>
          </a:p>
          <a:p>
            <a:pPr>
              <a:spcAft>
                <a:spcPts val="800"/>
              </a:spcAft>
              <a:defRPr sz="1500"/>
            </a:pPr>
            <a:r>
              <a:t>  • Combines NLP, Knowledge Graphs, and GNN innovatively</a:t>
            </a:r>
          </a:p>
          <a:p>
            <a:pPr>
              <a:spcAft>
                <a:spcPts val="800"/>
              </a:spcAft>
              <a:defRPr sz="1500"/>
            </a:pPr>
            <a:r>
              <a:t>  • Clear, achievable 12-week implementation plan</a:t>
            </a:r>
          </a:p>
          <a:p>
            <a:pPr>
              <a:spcAft>
                <a:spcPts val="800"/>
              </a:spcAft>
              <a:defRPr sz="1500"/>
            </a:pPr>
            <a:r>
              <a:t>  • Comprehensive validation strategy</a:t>
            </a:r>
          </a:p>
          <a:p>
            <a:pPr>
              <a:spcAft>
                <a:spcPts val="800"/>
              </a:spcAft>
              <a:defRPr sz="1500"/>
            </a:pPr>
            <a:r>
              <a:t>  • Potential for significant research impact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Expected Contribution:</a:t>
            </a:r>
          </a:p>
          <a:p>
            <a:pPr>
              <a:spcAft>
                <a:spcPts val="800"/>
              </a:spcAft>
              <a:defRPr sz="1500"/>
            </a:pPr>
            <a:r>
              <a:t>  • Novel methodology for gap discovery</a:t>
            </a:r>
          </a:p>
          <a:p>
            <a:pPr>
              <a:spcAft>
                <a:spcPts val="800"/>
              </a:spcAft>
              <a:defRPr sz="1500"/>
            </a:pPr>
            <a:r>
              <a:t>  • Practical tool for researchers</a:t>
            </a:r>
          </a:p>
          <a:p>
            <a:pPr>
              <a:spcAft>
                <a:spcPts val="800"/>
              </a:spcAft>
              <a:defRPr sz="1500"/>
            </a:pPr>
            <a:r>
              <a:t>  • Foundation for future research in this area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Goal: Transform serendipitous discovery into systematic science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Questions &amp; Discussion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Project Repository:</a:t>
            </a:r>
          </a:p>
          <a:p>
            <a:pPr algn="ctr">
              <a:defRPr sz="1800"/>
            </a:pPr>
            <a:r>
              <a:t>github.com/srivardhan-kondu/The-Negative-Knowledge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