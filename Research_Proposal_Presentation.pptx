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Discovering Negative Knowledge in Scientific Literature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An AI-Driven Approach to Identifying Research Gaps Using Graph Neural Networks</a:t>
            </a:r>
          </a:p>
          <a:p/>
          <a:p>
            <a:r>
              <a:t>Department of Computer Science / AI &amp; ML</a:t>
            </a:r>
          </a:p>
          <a:p>
            <a:r>
              <a:t>Academic Year: 2025-2026</a:t>
            </a:r>
          </a:p>
          <a:p>
            <a:r>
              <a:t>Final Year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The Research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Information Paradox in Modern Science: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• 3 million+ research papers published annually</a:t>
            </a:r>
          </a:p>
          <a:p>
            <a:pPr>
              <a:spcAft>
                <a:spcPts val="600"/>
              </a:spcAft>
              <a:defRPr sz="1800"/>
            </a:pPr>
            <a:r>
              <a:t>• 50,000+ publications in mental health alone per year</a:t>
            </a:r>
          </a:p>
          <a:p>
            <a:pPr>
              <a:spcAft>
                <a:spcPts val="600"/>
              </a:spcAft>
              <a:defRPr sz="1800"/>
            </a:pPr>
            <a:r>
              <a:t>• Researchers cannot comprehensively review all literature</a:t>
            </a:r>
          </a:p>
          <a:p>
            <a:pPr>
              <a:spcAft>
                <a:spcPts val="600"/>
              </a:spcAft>
              <a:defRPr sz="1800"/>
            </a:pPr>
            <a:r>
              <a:t>• Valuable interdisciplinary connections remain hidden</a:t>
            </a:r>
          </a:p>
          <a:p>
            <a:pPr>
              <a:spcAft>
                <a:spcPts val="600"/>
              </a:spcAft>
              <a:defRPr sz="1800"/>
            </a:pPr>
            <a:r>
              <a:t>• No systematic approach to identify what SHOULD be researched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Key Question: How do we find what we DON'T know?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Core Research Question:</a:t>
            </a:r>
          </a:p>
          <a:p>
            <a:pPr>
              <a:spcAft>
                <a:spcPts val="600"/>
              </a:spcAft>
              <a:defRPr sz="1800"/>
            </a:pPr>
            <a:r>
              <a:t>How can we systematically discover under-researched connections</a:t>
            </a:r>
          </a:p>
          <a:p>
            <a:pPr>
              <a:spcAft>
                <a:spcPts val="600"/>
              </a:spcAft>
              <a:defRPr sz="1800"/>
            </a:pPr>
            <a:r>
              <a:t>in scientific literature using AI?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Specific Challenges:</a:t>
            </a:r>
          </a:p>
          <a:p>
            <a:pPr>
              <a:spcAft>
                <a:spcPts val="600"/>
              </a:spcAft>
              <a:defRPr sz="1800"/>
            </a:pPr>
            <a:r>
              <a:t>• Identifying missing connections between established concepts</a:t>
            </a:r>
          </a:p>
          <a:p>
            <a:pPr>
              <a:spcAft>
                <a:spcPts val="600"/>
              </a:spcAft>
              <a:defRPr sz="1800"/>
            </a:pPr>
            <a:r>
              <a:t>• Quantifying confidence in predicted relationships</a:t>
            </a:r>
          </a:p>
          <a:p>
            <a:pPr>
              <a:spcAft>
                <a:spcPts val="600"/>
              </a:spcAft>
              <a:defRPr sz="1800"/>
            </a:pPr>
            <a:r>
              <a:t>• Ensuring AI transparency and interpretability</a:t>
            </a:r>
          </a:p>
          <a:p>
            <a:pPr>
              <a:spcAft>
                <a:spcPts val="600"/>
              </a:spcAft>
              <a:defRPr sz="1800"/>
            </a:pPr>
            <a:r>
              <a:t>• Scaling across multiple medical domains</a:t>
            </a:r>
          </a:p>
          <a:p>
            <a:pPr>
              <a:spcAft>
                <a:spcPts val="600"/>
              </a:spcAft>
              <a:defRPr sz="1800"/>
            </a:pPr>
            <a:r>
              <a:t>• Providing actionable insights for researchers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/>
            </a:pPr>
            <a:r>
              <a:t>Primary Objective:</a:t>
            </a:r>
          </a:p>
          <a:p>
            <a:pPr>
              <a:spcAft>
                <a:spcPts val="600"/>
              </a:spcAft>
              <a:defRPr sz="1600"/>
            </a:pPr>
            <a:r>
              <a:t>Design and develop an AI-powered system that automatically discovers</a:t>
            </a:r>
          </a:p>
          <a:p>
            <a:pPr>
              <a:spcAft>
                <a:spcPts val="600"/>
              </a:spcAft>
              <a:defRPr sz="1600"/>
            </a:pPr>
            <a:r>
              <a:t>under-researched connections in scientific literature using Graph Neural Networks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Key Targets:</a:t>
            </a:r>
          </a:p>
          <a:p>
            <a:pPr>
              <a:spcAft>
                <a:spcPts val="600"/>
              </a:spcAft>
              <a:defRPr sz="1600"/>
            </a:pPr>
            <a:r>
              <a:t>• Collect and analyze 500+ research papers</a:t>
            </a:r>
          </a:p>
          <a:p>
            <a:pPr>
              <a:spcAft>
                <a:spcPts val="600"/>
              </a:spcAft>
              <a:defRPr sz="1600"/>
            </a:pPr>
            <a:r>
              <a:t>• Extract and classify 600+ mental health concepts</a:t>
            </a:r>
          </a:p>
          <a:p>
            <a:pPr>
              <a:spcAft>
                <a:spcPts val="600"/>
              </a:spcAft>
              <a:defRPr sz="1600"/>
            </a:pPr>
            <a:r>
              <a:t>• Construct knowledge graph with 2,000+ relationships</a:t>
            </a:r>
          </a:p>
          <a:p>
            <a:pPr>
              <a:spcAft>
                <a:spcPts val="600"/>
              </a:spcAft>
              <a:defRPr sz="1600"/>
            </a:pPr>
            <a:r>
              <a:t>• Achieve &gt;95% prediction accuracy</a:t>
            </a:r>
          </a:p>
          <a:p>
            <a:pPr>
              <a:spcAft>
                <a:spcPts val="600"/>
              </a:spcAft>
              <a:defRPr sz="1600"/>
            </a:pPr>
            <a:r>
              <a:t>• Identify 20-50 high-confidence research gaps</a:t>
            </a:r>
          </a:p>
          <a:p>
            <a:pPr>
              <a:spcAft>
                <a:spcPts val="600"/>
              </a:spcAft>
              <a:defRPr sz="1600"/>
            </a:pPr>
            <a:r>
              <a:t>• Create interactive 3D visualization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Literature Survey: 15 Key Papers Reviewed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500"/>
            </a:pPr>
            <a:r>
              <a:t>Knowledge Graphs:</a:t>
            </a:r>
          </a:p>
          <a:p>
            <a:pPr>
              <a:spcAft>
                <a:spcPts val="600"/>
              </a:spcAft>
              <a:defRPr sz="1500"/>
            </a:pPr>
            <a:r>
              <a:t>  • DBpedia (Auer et al., 2007)</a:t>
            </a:r>
          </a:p>
          <a:p>
            <a:pPr>
              <a:spcAft>
                <a:spcPts val="600"/>
              </a:spcAft>
              <a:defRPr sz="1500"/>
            </a:pPr>
            <a:r>
              <a:t>  • YAGO (Rebele et al., 2016)</a:t>
            </a:r>
          </a:p>
          <a:p>
            <a:pPr>
              <a:spcAft>
                <a:spcPts val="600"/>
              </a:spcAft>
              <a:defRPr sz="1500"/>
            </a:pPr>
            <a:r>
              <a:t>  • Freebase (Bollacker et al., 2008)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Biomedical NLP:</a:t>
            </a:r>
          </a:p>
          <a:p>
            <a:pPr>
              <a:spcAft>
                <a:spcPts val="600"/>
              </a:spcAft>
              <a:defRPr sz="1500"/>
            </a:pPr>
            <a:r>
              <a:t>  • BioBERT (Lee et al., 2020)</a:t>
            </a:r>
          </a:p>
          <a:p>
            <a:pPr>
              <a:spcAft>
                <a:spcPts val="600"/>
              </a:spcAft>
              <a:defRPr sz="1500"/>
            </a:pPr>
            <a:r>
              <a:t>  • ScispaCy (Neumann et al., 2019)</a:t>
            </a:r>
          </a:p>
          <a:p>
            <a:pPr>
              <a:spcAft>
                <a:spcPts val="600"/>
              </a:spcAft>
              <a:defRPr sz="1500"/>
            </a:pPr>
            <a:r>
              <a:t>  • PubMedBERT (Gu et al., 2021)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Graph Neural Networks:</a:t>
            </a:r>
          </a:p>
          <a:p>
            <a:pPr>
              <a:spcAft>
                <a:spcPts val="600"/>
              </a:spcAft>
              <a:defRPr sz="1500"/>
            </a:pPr>
            <a:r>
              <a:t>  • Node2Vec (Grover &amp; Leskovec, 2016)</a:t>
            </a:r>
          </a:p>
          <a:p>
            <a:pPr>
              <a:spcAft>
                <a:spcPts val="600"/>
              </a:spcAft>
              <a:defRPr sz="1500"/>
            </a:pPr>
            <a:r>
              <a:t>  • GCN (Kipf &amp; Welling, 2017)</a:t>
            </a:r>
          </a:p>
          <a:p>
            <a:pPr>
              <a:spcAft>
                <a:spcPts val="600"/>
              </a:spcAft>
              <a:defRPr sz="1500"/>
            </a:pPr>
            <a:r>
              <a:t>  • Link Prediction (Zhang &amp; Chen, 2018)</a:t>
            </a:r>
          </a:p>
          <a:p>
            <a:pPr>
              <a:spcAft>
                <a:spcPts val="600"/>
              </a:spcAft>
              <a:defRPr sz="1500"/>
            </a:pPr>
            <a:r>
              <a:t>  • GAT (Veličković et al., 2018)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Identified Research Gaps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State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automated gap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Manual expert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domain-specific GNN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Generic social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Single data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Limited to one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Lack of AI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Black box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confidence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Binary yes/no 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interactive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Static reports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Limited cross-domain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Domain-specific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700"/>
            </a:pPr>
            <a:r>
              <a:t>End-to-End AI Pipeline: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DATA COLLECTION → Semantic Scholar + arXiv + PubMed</a:t>
            </a:r>
          </a:p>
          <a:p>
            <a:pPr>
              <a:spcAft>
                <a:spcPts val="600"/>
              </a:spcAft>
              <a:defRPr sz="1700"/>
            </a:pPr>
            <a:r>
              <a:t>           ↓</a:t>
            </a:r>
          </a:p>
          <a:p>
            <a:pPr>
              <a:spcAft>
                <a:spcPts val="600"/>
              </a:spcAft>
              <a:defRPr sz="1700"/>
            </a:pPr>
            <a:r>
              <a:t>NLP PIPELINE → ScispaCy + BioBERT</a:t>
            </a:r>
          </a:p>
          <a:p>
            <a:pPr>
              <a:spcAft>
                <a:spcPts val="600"/>
              </a:spcAft>
              <a:defRPr sz="1700"/>
            </a:pPr>
            <a:r>
              <a:t>           ↓</a:t>
            </a:r>
          </a:p>
          <a:p>
            <a:pPr>
              <a:spcAft>
                <a:spcPts val="600"/>
              </a:spcAft>
              <a:defRPr sz="1700"/>
            </a:pPr>
            <a:r>
              <a:t>KNOWLEDGE GRAPH → NetworkX (Concepts + Relations)</a:t>
            </a:r>
          </a:p>
          <a:p>
            <a:pPr>
              <a:spcAft>
                <a:spcPts val="600"/>
              </a:spcAft>
              <a:defRPr sz="1700"/>
            </a:pPr>
            <a:r>
              <a:t>           ↓</a:t>
            </a:r>
          </a:p>
          <a:p>
            <a:pPr>
              <a:spcAft>
                <a:spcPts val="600"/>
              </a:spcAft>
              <a:defRPr sz="1700"/>
            </a:pPr>
            <a:r>
              <a:t>GRAPH NEURAL NETWORK → GCN for Link Prediction</a:t>
            </a:r>
          </a:p>
          <a:p>
            <a:pPr>
              <a:spcAft>
                <a:spcPts val="600"/>
              </a:spcAft>
              <a:defRPr sz="1700"/>
            </a:pPr>
            <a:r>
              <a:t>           ↓</a:t>
            </a:r>
          </a:p>
          <a:p>
            <a:pPr>
              <a:spcAft>
                <a:spcPts val="600"/>
              </a:spcAft>
              <a:defRPr sz="1700"/>
            </a:pPr>
            <a:r>
              <a:t>RESEARCH GAP PREDICTION → Confidence Scoring + Ranking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Implementation Phases (1-3)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500"/>
            </a:pPr>
            <a:r>
              <a:t>Phase 1: Data Collection (Weeks 1-2)</a:t>
            </a:r>
          </a:p>
          <a:p>
            <a:pPr>
              <a:spcAft>
                <a:spcPts val="600"/>
              </a:spcAft>
              <a:defRPr sz="1500"/>
            </a:pPr>
            <a:r>
              <a:t>  • API integration for 3 databases</a:t>
            </a:r>
          </a:p>
          <a:p>
            <a:pPr>
              <a:spcAft>
                <a:spcPts val="600"/>
              </a:spcAft>
              <a:defRPr sz="1500"/>
            </a:pPr>
            <a:r>
              <a:t>  • Collect 500-700 mental health papers</a:t>
            </a:r>
          </a:p>
          <a:p>
            <a:pPr>
              <a:spcAft>
                <a:spcPts val="600"/>
              </a:spcAft>
              <a:defRPr sz="1500"/>
            </a:pPr>
            <a:r>
              <a:t>  • Structured database with metadata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Phase 2: NLP Processing (Weeks 2-3)</a:t>
            </a:r>
          </a:p>
          <a:p>
            <a:pPr>
              <a:spcAft>
                <a:spcPts val="600"/>
              </a:spcAft>
              <a:defRPr sz="1500"/>
            </a:pPr>
            <a:r>
              <a:t>  • Entity extraction using ScispaCy and BioBERT</a:t>
            </a:r>
          </a:p>
          <a:p>
            <a:pPr>
              <a:spcAft>
                <a:spcPts val="600"/>
              </a:spcAft>
              <a:defRPr sz="1500"/>
            </a:pPr>
            <a:r>
              <a:t>  • Classification: Disorders, Therapies, Risk Factors, Populations, Outcomes</a:t>
            </a:r>
          </a:p>
          <a:p>
            <a:pPr>
              <a:spcAft>
                <a:spcPts val="600"/>
              </a:spcAft>
              <a:defRPr sz="1500"/>
            </a:pPr>
            <a:r>
              <a:t>  • Target: 600+ unique concepts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Phase 3: Relation Extraction (Weeks 3-4)</a:t>
            </a:r>
          </a:p>
          <a:p>
            <a:pPr>
              <a:spcAft>
                <a:spcPts val="600"/>
              </a:spcAft>
              <a:defRPr sz="1500"/>
            </a:pPr>
            <a:r>
              <a:t>  • Co-occurrence analysis at sentence level</a:t>
            </a:r>
          </a:p>
          <a:p>
            <a:pPr>
              <a:spcAft>
                <a:spcPts val="600"/>
              </a:spcAft>
              <a:defRPr sz="1500"/>
            </a:pPr>
            <a:r>
              <a:t>  • Extract and filter relationships</a:t>
            </a:r>
          </a:p>
          <a:p>
            <a:pPr>
              <a:spcAft>
                <a:spcPts val="600"/>
              </a:spcAft>
              <a:defRPr sz="1500"/>
            </a:pPr>
            <a:r>
              <a:t>  • Target: 2,000+ documented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Implementation Phases (4-6)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500"/>
            </a:pPr>
            <a:r>
              <a:t>Phase 4: Knowledge Graph (Week 4)</a:t>
            </a:r>
          </a:p>
          <a:p>
            <a:pPr>
              <a:spcAft>
                <a:spcPts val="600"/>
              </a:spcAft>
              <a:defRPr sz="1500"/>
            </a:pPr>
            <a:r>
              <a:t>  • Graph schema design with NetworkX</a:t>
            </a:r>
          </a:p>
          <a:p>
            <a:pPr>
              <a:spcAft>
                <a:spcPts val="600"/>
              </a:spcAft>
              <a:defRPr sz="1500"/>
            </a:pPr>
            <a:r>
              <a:t>  • Compute centrality metrics</a:t>
            </a:r>
          </a:p>
          <a:p>
            <a:pPr>
              <a:spcAft>
                <a:spcPts val="600"/>
              </a:spcAft>
              <a:defRPr sz="1500"/>
            </a:pPr>
            <a:r>
              <a:t>  • Connected meaningful structure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Phase 5: Graph Embeddings (Week 5)</a:t>
            </a:r>
          </a:p>
          <a:p>
            <a:pPr>
              <a:spcAft>
                <a:spcPts val="600"/>
              </a:spcAft>
              <a:defRPr sz="1500"/>
            </a:pPr>
            <a:r>
              <a:t>  • Node2Vec algorithm implementation</a:t>
            </a:r>
          </a:p>
          <a:p>
            <a:pPr>
              <a:spcAft>
                <a:spcPts val="600"/>
              </a:spcAft>
              <a:defRPr sz="1500"/>
            </a:pPr>
            <a:r>
              <a:t>  • 64-dimensional embeddings</a:t>
            </a:r>
          </a:p>
          <a:p>
            <a:pPr>
              <a:spcAft>
                <a:spcPts val="600"/>
              </a:spcAft>
              <a:defRPr sz="1500"/>
            </a:pPr>
            <a:r>
              <a:t>  • Similarity validation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Phase 6: GNN Development (Weeks 6-7)</a:t>
            </a:r>
          </a:p>
          <a:p>
            <a:pPr>
              <a:spcAft>
                <a:spcPts val="600"/>
              </a:spcAft>
              <a:defRPr sz="1500"/>
            </a:pPr>
            <a:r>
              <a:t>  • Graph Convolutional Network with PyTorch Geometric</a:t>
            </a:r>
          </a:p>
          <a:p>
            <a:pPr>
              <a:spcAft>
                <a:spcPts val="600"/>
              </a:spcAft>
              <a:defRPr sz="1500"/>
            </a:pPr>
            <a:r>
              <a:t>  • Binary cross-entropy loss for link prediction</a:t>
            </a:r>
          </a:p>
          <a:p>
            <a:pPr>
              <a:spcAft>
                <a:spcPts val="600"/>
              </a:spcAft>
              <a:defRPr sz="1500"/>
            </a:pPr>
            <a:r>
              <a:t>  • Target: &gt;95% ROC-AUC on validation 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Implementation Phases (7-10)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500"/>
            </a:pPr>
            <a:r>
              <a:t>Phase 7: Gap Prediction (Weeks 7-8)</a:t>
            </a:r>
          </a:p>
          <a:p>
            <a:pPr>
              <a:spcAft>
                <a:spcPts val="600"/>
              </a:spcAft>
              <a:defRPr sz="1500"/>
            </a:pPr>
            <a:r>
              <a:t>  • Generate and score missing edges</a:t>
            </a:r>
          </a:p>
          <a:p>
            <a:pPr>
              <a:spcAft>
                <a:spcPts val="600"/>
              </a:spcAft>
              <a:defRPr sz="1500"/>
            </a:pPr>
            <a:r>
              <a:t>  • Confidence ranking (0-100%)</a:t>
            </a:r>
          </a:p>
          <a:p>
            <a:pPr>
              <a:spcAft>
                <a:spcPts val="600"/>
              </a:spcAft>
              <a:defRPr sz="1500"/>
            </a:pPr>
            <a:r>
              <a:t>  • Select top 20-50 high-confidence gaps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Phase 8: Visualization (Weeks 8-9)</a:t>
            </a:r>
          </a:p>
          <a:p>
            <a:pPr>
              <a:spcAft>
                <a:spcPts val="600"/>
              </a:spcAft>
              <a:defRPr sz="1500"/>
            </a:pPr>
            <a:r>
              <a:t>  • 3D interactive graph with Plotly</a:t>
            </a:r>
          </a:p>
          <a:p>
            <a:pPr>
              <a:spcAft>
                <a:spcPts val="600"/>
              </a:spcAft>
              <a:defRPr sz="1500"/>
            </a:pPr>
            <a:r>
              <a:t>  • Transparency panels (architecture, metrics, predictions)</a:t>
            </a:r>
          </a:p>
          <a:p>
            <a:pPr>
              <a:spcAft>
                <a:spcPts val="600"/>
              </a:spcAft>
              <a:defRPr sz="1500"/>
            </a:pPr>
            <a:r>
              <a:t>  • User-friendly interface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Phase 9-10: Evaluation &amp; Documentation (Weeks 9-12)</a:t>
            </a:r>
          </a:p>
          <a:p>
            <a:pPr>
              <a:spcAft>
                <a:spcPts val="600"/>
              </a:spcAft>
              <a:defRPr sz="1500"/>
            </a:pPr>
            <a:r>
              <a:t>  • Literature validation and expert review</a:t>
            </a:r>
          </a:p>
          <a:p>
            <a:pPr>
              <a:spcAft>
                <a:spcPts val="600"/>
              </a:spcAft>
              <a:defRPr sz="1500"/>
            </a:pPr>
            <a:r>
              <a:t>  • Technical documentation and research paper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/>
            </a:pPr>
            <a:r>
              <a:t>Programming &amp; Libraries:</a:t>
            </a:r>
          </a:p>
          <a:p>
            <a:pPr>
              <a:spcAft>
                <a:spcPts val="600"/>
              </a:spcAft>
              <a:defRPr sz="1600"/>
            </a:pPr>
            <a:r>
              <a:t>  • Python 3.11+</a:t>
            </a:r>
          </a:p>
          <a:p>
            <a:pPr>
              <a:spcAft>
                <a:spcPts val="600"/>
              </a:spcAft>
              <a:defRPr sz="1600"/>
            </a:pPr>
            <a:r>
              <a:t>  • SpaCy, scispaCy</a:t>
            </a:r>
          </a:p>
          <a:p>
            <a:pPr>
              <a:spcAft>
                <a:spcPts val="600"/>
              </a:spcAft>
              <a:defRPr sz="1600"/>
            </a:pPr>
            <a:r>
              <a:t>  • NetworkX</a:t>
            </a:r>
          </a:p>
          <a:p>
            <a:pPr>
              <a:spcAft>
                <a:spcPts val="600"/>
              </a:spcAft>
              <a:defRPr sz="1600"/>
            </a:pPr>
            <a:r>
              <a:t>  • PyTorch + PyTorch Geometric</a:t>
            </a:r>
          </a:p>
          <a:p>
            <a:pPr>
              <a:spcAft>
                <a:spcPts val="600"/>
              </a:spcAft>
              <a:defRPr sz="1600"/>
            </a:pPr>
            <a:r>
              <a:t>  • Plotly, Pandas, NumPy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Data Sources:</a:t>
            </a:r>
          </a:p>
          <a:p>
            <a:pPr>
              <a:spcAft>
                <a:spcPts val="600"/>
              </a:spcAft>
              <a:defRPr sz="1600"/>
            </a:pPr>
            <a:r>
              <a:t>  • Semantic Scholar Graph API</a:t>
            </a:r>
          </a:p>
          <a:p>
            <a:pPr>
              <a:spcAft>
                <a:spcPts val="600"/>
              </a:spcAft>
              <a:defRPr sz="1600"/>
            </a:pPr>
            <a:r>
              <a:t>  • arXiv API</a:t>
            </a:r>
          </a:p>
          <a:p>
            <a:pPr>
              <a:spcAft>
                <a:spcPts val="600"/>
              </a:spcAft>
              <a:defRPr sz="1600"/>
            </a:pPr>
            <a:r>
              <a:t>  • PubMed Entrez E-utilities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Development:</a:t>
            </a:r>
          </a:p>
          <a:p>
            <a:pPr>
              <a:spcAft>
                <a:spcPts val="600"/>
              </a:spcAft>
              <a:defRPr sz="1600"/>
            </a:pPr>
            <a:r>
              <a:t>  • Git version control, Jupyter notebooks, Virtual environments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/>
            </a:pPr>
            <a:r>
              <a:t>Technical Deliverables:</a:t>
            </a:r>
          </a:p>
          <a:p>
            <a:pPr>
              <a:spcAft>
                <a:spcPts val="600"/>
              </a:spcAft>
              <a:defRPr sz="1600"/>
            </a:pPr>
            <a:r>
              <a:t>  • Functional AI system with all modules integrated</a:t>
            </a:r>
          </a:p>
          <a:p>
            <a:pPr>
              <a:spcAft>
                <a:spcPts val="600"/>
              </a:spcAft>
              <a:defRPr sz="1600"/>
            </a:pPr>
            <a:r>
              <a:t>  • Trained GNN model achieving &gt;95% accuracy</a:t>
            </a:r>
          </a:p>
          <a:p>
            <a:pPr>
              <a:spcAft>
                <a:spcPts val="600"/>
              </a:spcAft>
              <a:defRPr sz="1600"/>
            </a:pPr>
            <a:r>
              <a:t>  • Interactive 3D visualization platform</a:t>
            </a:r>
          </a:p>
          <a:p>
            <a:pPr>
              <a:spcAft>
                <a:spcPts val="600"/>
              </a:spcAft>
              <a:defRPr sz="1600"/>
            </a:pPr>
            <a:r>
              <a:t>  • Knowledge graph of 600+ mental health concepts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Research Outputs:</a:t>
            </a:r>
          </a:p>
          <a:p>
            <a:pPr>
              <a:spcAft>
                <a:spcPts val="600"/>
              </a:spcAft>
              <a:defRPr sz="1600"/>
            </a:pPr>
            <a:r>
              <a:t>  • List of 20-50 high-confidence research gaps</a:t>
            </a:r>
          </a:p>
          <a:p>
            <a:pPr>
              <a:spcAft>
                <a:spcPts val="600"/>
              </a:spcAft>
              <a:defRPr sz="1600"/>
            </a:pPr>
            <a:r>
              <a:t>  • Quantitative evaluation metrics</a:t>
            </a:r>
          </a:p>
          <a:p>
            <a:pPr>
              <a:spcAft>
                <a:spcPts val="600"/>
              </a:spcAft>
              <a:defRPr sz="1600"/>
            </a:pPr>
            <a:r>
              <a:t>  • Comparison with existing methods</a:t>
            </a:r>
          </a:p>
          <a:p>
            <a:pPr>
              <a:spcAft>
                <a:spcPts val="600"/>
              </a:spcAft>
              <a:defRPr sz="1600"/>
            </a:pPr>
            <a:r>
              <a:t>  • System architecture documentation</a:t>
            </a:r>
          </a:p>
          <a:p>
            <a:pPr>
              <a:spcAft>
                <a:spcPts val="600"/>
              </a:spcAft>
              <a:defRPr sz="1600"/>
            </a:pPr>
            <a:r>
              <a:t>  • Research methodology paper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Success Criteria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500+ 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Database count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Entity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600+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Entity table count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Graph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2,000+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Edge count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&gt;95% 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set evaluation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Literature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≥70% novel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Manual verification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Expert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≥4/5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Expert survey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≥70/100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SUS questionnaire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Project Timeline (12 Weeks)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Expected Output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500+ papers collected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NLP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600+ concepts extracted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Relation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2,000+ relationships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Graph &amp; 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Knowledge graph + embeddings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GNN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Trained model (&gt;95%)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Prediction &amp; Viz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20-50 gaps + 3D platform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Evaluation &amp;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Final deliverables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700"/>
            </a:pPr>
            <a:r>
              <a:t>Human Resources:</a:t>
            </a:r>
          </a:p>
          <a:p>
            <a:pPr>
              <a:spcAft>
                <a:spcPts val="600"/>
              </a:spcAft>
              <a:defRPr sz="1700"/>
            </a:pPr>
            <a:r>
              <a:t>  • Student researcher (full-time, 12 weeks)</a:t>
            </a:r>
          </a:p>
          <a:p>
            <a:pPr>
              <a:spcAft>
                <a:spcPts val="600"/>
              </a:spcAft>
              <a:defRPr sz="1700"/>
            </a:pPr>
            <a:r>
              <a:t>  • Faculty advisor (2-3 hours/week)</a:t>
            </a:r>
          </a:p>
          <a:p>
            <a:pPr>
              <a:spcAft>
                <a:spcPts val="600"/>
              </a:spcAft>
              <a:defRPr sz="1700"/>
            </a:pPr>
            <a:r>
              <a:t>  • Domain expert (1-2 hours validation)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Computational Resources:</a:t>
            </a:r>
          </a:p>
          <a:p>
            <a:pPr>
              <a:spcAft>
                <a:spcPts val="600"/>
              </a:spcAft>
              <a:defRPr sz="1700"/>
            </a:pPr>
            <a:r>
              <a:t>  • Personal computer (Quad-core, 8GB+ RAM)</a:t>
            </a:r>
          </a:p>
          <a:p>
            <a:pPr>
              <a:spcAft>
                <a:spcPts val="600"/>
              </a:spcAft>
              <a:defRPr sz="1700"/>
            </a:pPr>
            <a:r>
              <a:t>  • Internet connection for APIs</a:t>
            </a:r>
          </a:p>
          <a:p>
            <a:pPr>
              <a:spcAft>
                <a:spcPts val="600"/>
              </a:spcAft>
              <a:defRPr sz="1700"/>
            </a:pPr>
            <a:r>
              <a:t>  • Google Colab (optional, free GPU)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Software: All open-source and free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Estimated Budget: ₹0-5,000 (minimal cost)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Risk Analysis and Mitigation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 rate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Exponential backoff; multiple APIs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 NLP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Ensemble models; manual validation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Sparse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Collect more data; augmentation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Computational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Algorithm optimization; cloud resources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Expert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Partner with research groups early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Try GAT, GraphSAGE alternatives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Novel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500"/>
            </a:pPr>
            <a:r>
              <a:t>First Systematic AI Approach to 'Negative Knowledge' Discovery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Scientific Impact:</a:t>
            </a:r>
          </a:p>
          <a:p>
            <a:pPr>
              <a:spcAft>
                <a:spcPts val="600"/>
              </a:spcAft>
              <a:defRPr sz="1500"/>
            </a:pPr>
            <a:r>
              <a:t>  • Transforms serendipitous discovery into systematic methodology</a:t>
            </a:r>
          </a:p>
          <a:p>
            <a:pPr>
              <a:spcAft>
                <a:spcPts val="600"/>
              </a:spcAft>
              <a:defRPr sz="1500"/>
            </a:pPr>
            <a:r>
              <a:t>  • Accelerates identification of novel research directions</a:t>
            </a:r>
          </a:p>
          <a:p>
            <a:pPr>
              <a:spcAft>
                <a:spcPts val="600"/>
              </a:spcAft>
              <a:defRPr sz="1500"/>
            </a:pPr>
            <a:r>
              <a:t>  • Reduces redundant research efforts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Technical Innovation:</a:t>
            </a:r>
          </a:p>
          <a:p>
            <a:pPr>
              <a:spcAft>
                <a:spcPts val="600"/>
              </a:spcAft>
              <a:defRPr sz="1500"/>
            </a:pPr>
            <a:r>
              <a:t>  • Domain-adapted GNN for medical research</a:t>
            </a:r>
          </a:p>
          <a:p>
            <a:pPr>
              <a:spcAft>
                <a:spcPts val="600"/>
              </a:spcAft>
              <a:defRPr sz="1500"/>
            </a:pPr>
            <a:r>
              <a:t>  • Multi-source integration framework</a:t>
            </a:r>
          </a:p>
          <a:p>
            <a:pPr>
              <a:spcAft>
                <a:spcPts val="600"/>
              </a:spcAft>
              <a:defRPr sz="1500"/>
            </a:pPr>
            <a:r>
              <a:t>  • AI transparency architecture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Practical Impact:</a:t>
            </a:r>
          </a:p>
          <a:p>
            <a:pPr>
              <a:spcAft>
                <a:spcPts val="600"/>
              </a:spcAft>
              <a:defRPr sz="1500"/>
            </a:pPr>
            <a:r>
              <a:t>  • Actionable gap lists with confidence scores</a:t>
            </a:r>
          </a:p>
          <a:p>
            <a:pPr>
              <a:spcAft>
                <a:spcPts val="600"/>
              </a:spcAft>
              <a:defRPr sz="1500"/>
            </a:pPr>
            <a:r>
              <a:t>  • Evidence-based research planning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700"/>
            </a:pPr>
            <a:r>
              <a:t>Expansion Opportunities: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• Multi-Domain Extension: Cancer, diabetes, cardiovascular research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• Temporal Analysis: Track research trends and gap evolution over time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• Causal Inference: Predict causal relationships beyond associations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• Researcher Networking: Suggest collaboration opportunities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• Automated Reviews: Generate systematic review sections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• Database Integration: Direct API with institutional libraries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/>
            </a:pPr>
            <a:r>
              <a:t>The Goal: Transform serendipitous discovery into systematic science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What Makes This Project Unique?</a:t>
            </a:r>
          </a:p>
          <a:p>
            <a:pPr>
              <a:spcAft>
                <a:spcPts val="600"/>
              </a:spcAft>
              <a:defRPr sz="1600"/>
            </a:pPr>
            <a:r>
              <a:t>  • Addresses 7 identified research gaps</a:t>
            </a:r>
          </a:p>
          <a:p>
            <a:pPr>
              <a:spcAft>
                <a:spcPts val="600"/>
              </a:spcAft>
              <a:defRPr sz="1600"/>
            </a:pPr>
            <a:r>
              <a:t>  • Combines NLP, Graph Theory, and Deep Learning innovatively</a:t>
            </a:r>
          </a:p>
          <a:p>
            <a:pPr>
              <a:spcAft>
                <a:spcPts val="600"/>
              </a:spcAft>
              <a:defRPr sz="1600"/>
            </a:pPr>
            <a:r>
              <a:t>  • Provides complete AI transparency</a:t>
            </a:r>
          </a:p>
          <a:p>
            <a:pPr>
              <a:spcAft>
                <a:spcPts val="600"/>
              </a:spcAft>
              <a:defRPr sz="1600"/>
            </a:pPr>
            <a:r>
              <a:t>  • Delivers practical tool with quantified predictions</a:t>
            </a:r>
          </a:p>
          <a:p>
            <a:pPr>
              <a:spcAft>
                <a:spcPts val="600"/>
              </a:spcAft>
              <a:defRPr sz="1600"/>
            </a:pPr>
            <a:r>
              <a:t>  • Scalable architecture for multiple medical domains</a:t>
            </a:r>
          </a:p>
          <a:p>
            <a:pPr>
              <a:spcAft>
                <a:spcPts val="600"/>
              </a:spcAft>
              <a:defRPr sz="1600"/>
            </a:pPr>
            <a:r>
              <a:t>  • Clear 12-week timeline with achievable milestones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Impact: Democratize access to research gap analysis and</a:t>
            </a:r>
          </a:p>
          <a:p>
            <a:pPr>
              <a:spcAft>
                <a:spcPts val="600"/>
              </a:spcAft>
              <a:defRPr sz="1600"/>
            </a:pPr>
            <a:r>
              <a:t>accelerate scientific discovery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Questions and Discussion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Department of Computer Science / AI &amp; ML</a:t>
            </a:r>
          </a:p>
          <a:p>
            <a:pPr algn="ctr">
              <a:defRPr sz="1800"/>
            </a:pPr>
            <a:r>
              <a:t>Academic Year: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